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46888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78608" y="-2761488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871216" y="-3054096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163824" y="-3346704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456432" y="-3639312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749040" y="-393192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51615" y="640080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59007" y="6108192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66399" y="5815584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3791" y="5522976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1183" y="5230368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88575" y="493776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63928" y="1874520"/>
            <a:ext cx="7863840" cy="2468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1A1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38248" y="1874520"/>
            <a:ext cx="7315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FORECASTING
</a:t>
            </a:r>
            <a:endParaRPr lang="en-US" sz="22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STREAMGAGE ELEVATIONS AT USGS NODES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0" y="457200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rgbClr val="1E3AF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WWW.THOMASOTT.IO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Update  —  From Research Prototype to an Automated, Deployable Forecasting Platform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1615" y="640080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59007" y="6108192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66399" y="5815584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3791" y="5522976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1183" y="5230368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88575" y="493776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CONTENT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1188720" y="1600200"/>
            <a:ext cx="777240" cy="4626864"/>
          </a:xfrm>
          <a:prstGeom prst="rect">
            <a:avLst/>
          </a:prstGeom>
          <a:solidFill>
            <a:srgbClr val="D9D9D6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160020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48840" y="160020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02082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148840" y="202082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 CASE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44144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48840" y="244144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ANOTHER FLOOD PREDICTION PROCESS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286207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2148840" y="286207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POMPTON RIVER CROSSING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28269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148840" y="328269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A PRODUCTION PROBLEM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370332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148840" y="370332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XGBOOST + CONFORMAL CALIBRATION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4123944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148840" y="412394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AUTO_PIPELINE.PY — ONE COMMAND, ANY STREAMGAGE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88720" y="4544568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148840" y="454456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IT GENERALIZES: A SECOND, VERY DIFFERENT RIVER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965192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148840" y="496519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SCRIPT TO PRODUCT: A BROWSER-BASED CONSOLE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5385816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2148840" y="538581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IT: DOCKER + CONTINUOUS INTEGRATION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5806440"/>
            <a:ext cx="777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i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11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2148840" y="58064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551615" y="640080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259007" y="6108192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66399" y="5815584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3791" y="5522976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1183" y="5230368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88575" y="493776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0292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ABOUT ME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" y="1874520"/>
            <a:ext cx="6949440" cy="14173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2130552"/>
            <a:ext cx="6437376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years in Civil Engineering, NJ PE, Machine Learning/Data Science expert, dogs love 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6949440" cy="1737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3776472"/>
            <a:ext cx="64373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consultancy in Northern New Jersey providing Site &amp; Drainage Engineering, Variance Applications, and Green Infrastructure Design.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366760" y="1417320"/>
            <a:ext cx="3200400" cy="4206240"/>
          </a:xfrm>
          <a:prstGeom prst="rect">
            <a:avLst/>
          </a:prstGeom>
          <a:solidFill>
            <a:srgbClr val="D9D9D6"/>
          </a:solidFill>
          <a:ln/>
        </p:spPr>
      </p:sp>
      <p:pic>
        <p:nvPicPr>
          <p:cNvPr id="14" name="Image 0" descr="/sessions/clever-dazzling-gauss/deck_assets/headsho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1143000"/>
            <a:ext cx="301752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46888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578608" y="-2761488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871216" y="-3054096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3163824" y="-3346704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-3456432" y="-3639312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3749040" y="-393192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551615" y="6400800"/>
            <a:ext cx="2926080" cy="2926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59007" y="6108192"/>
            <a:ext cx="3511296" cy="3511296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66399" y="5815584"/>
            <a:ext cx="4096512" cy="4096512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3791" y="5522976"/>
            <a:ext cx="4681728" cy="4681728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1183" y="5230368"/>
            <a:ext cx="5266944" cy="5266944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088575" y="493776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7200"/>
            <a:ext cx="111858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POMPTON RIVER CROSSING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AT ROUTE 23, NEW JERSEY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4206240" cy="26517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28600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USE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CASE</a:t>
            </a:r>
            <a:endParaRPr lang="en-US" sz="2600" dirty="0"/>
          </a:p>
        </p:txBody>
      </p:sp>
      <p:pic>
        <p:nvPicPr>
          <p:cNvPr id="17" name="Image 0" descr="/sessions/clever-dazzling-gauss/deck_assets/flood_phot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2011680"/>
            <a:ext cx="6583680" cy="36576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074920" y="5715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Wayne NJ August 30, 2011 – Hurricane Irene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ANOTHER FLOOD PREDICTION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NOAA Streamgage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7726680" cy="1280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673352"/>
            <a:ext cx="721461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flood stage simulations exist already (NWM)*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another flood prediction process?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Physics-based vs. data-driven approach</a:t>
            </a:r>
            <a:endParaRPr lang="en-US" sz="1300" dirty="0"/>
          </a:p>
        </p:txBody>
      </p:sp>
      <p:pic>
        <p:nvPicPr>
          <p:cNvPr id="8" name="Image 0" descr="/sessions/clever-dazzling-gauss/deck_assets/noaa_forecast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880360"/>
            <a:ext cx="923544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922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*NWM – National Water Model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ANOTHER FLOOD PREDICTION PROCESS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291840" cy="12344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USGS Streamgage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Nodes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977640" y="1417320"/>
            <a:ext cx="7726680" cy="233172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33672" y="1673352"/>
            <a:ext cx="721461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Apply a data-driven approach for flood predictions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inferencing at the streamgage node — now automated for any site (see “auto_pipeline.py”)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1, 3, and 6 hour streamgage elevation using machine learning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inferencing results to inform USGS researchers and turn on/off instrumentation remotely</a:t>
            </a:r>
            <a:endParaRPr lang="en-US" sz="1300" dirty="0"/>
          </a:p>
        </p:txBody>
      </p:sp>
      <p:pic>
        <p:nvPicPr>
          <p:cNvPr id="8" name="Image 0" descr="/sessions/clever-dazzling-gauss/deck_assets/pompton_gage_hi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977640"/>
            <a:ext cx="8686800" cy="2514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922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Pompton River gage height, 2022–2024 — the flashy, spike-prone behavior this project targets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POMPTON RIVER CROSSING – WAYNE NJ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5120640" cy="35661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810512"/>
            <a:ext cx="4608576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Pompton River crosses at Route 23 in Wayne, NJ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of Ramapo &amp; Pequannock Rivers just north of the bridge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USGS Streamgage #01388500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23 typically closes at moderate flood stage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flood stage elevation = 18 feet</a:t>
            </a:r>
            <a:endParaRPr lang="en-US" sz="1400" dirty="0"/>
          </a:p>
        </p:txBody>
      </p:sp>
      <p:pic>
        <p:nvPicPr>
          <p:cNvPr id="6" name="Image 0" descr="/sessions/clever-dazzling-gauss/deck_assets/usgs_map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554480"/>
            <a:ext cx="5852160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PROTOTYPE TO A PRODUCTION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92861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approach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 TimeSeriesPredictor, “fast_training” preset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1 / 3 / 6 / 12 / 24 hours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 per horizon: 0.002–0.013 ft (Weighted Ensemble / Theta)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440680" cy="28803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673352"/>
            <a:ext cx="4928616" cy="2368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 in production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models are Python pickle files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blobs cache numba-JIT'd code paths tied to exact library versions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routine Python/numba upgrade left production unable to unpickle the saved predictor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was never the problem — durability was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4617720"/>
            <a:ext cx="11201400" cy="100584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4617720"/>
            <a:ext cx="10835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fix couldn’t just be “retrain” — it had to be a model format that survives version upgrades by design.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FIX: XGBOOST + CONFORMAL CALIBRATION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84632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3342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problems, two fixes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 → XGBoost’s native JSON save_model() format — a stable, documented schema, not a version-pinned pickle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→ split conformal prediction instead of naive quantile regression</a:t>
            </a:r>
            <a:endParaRPr lang="en-US" sz="1500" dirty="0"/>
          </a:p>
        </p:txBody>
      </p:sp>
      <p:pic>
        <p:nvPicPr>
          <p:cNvPr id="6" name="Image 0" descr="/sessions/clever-dazzling-gauss/deck_assets/calibration_reli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61264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45262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quantile regression dangerously under-covers (as low as ~20–30%); conformal calibration actually delivers its stated 80% confidence level.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AUTO_PIPELINE.PY — ONE COMMAND, ANY STREAMGAGE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84632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3342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auto_pipeline.py &lt;site_code&gt; — no more per-site manual trial and error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genuinely upstream gages via USGS’s NLDI network API (crosses tributary boundaries)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Auto-selects baseline vs. upstream+weather-enriched+tuned features, per horizon, on held-out accuracy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Refits on the full window, saves model.json + metadata.json + a manifest</a:t>
            </a:r>
            <a:endParaRPr lang="en-US" sz="1350" dirty="0"/>
          </a:p>
        </p:txBody>
      </p:sp>
      <p:pic>
        <p:nvPicPr>
          <p:cNvPr id="6" name="Image 0" descr="/sessions/clever-dazzling-gauss/deck_assets/forecast_h1_pompt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00200"/>
            <a:ext cx="61264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4709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 Pompton River, 1h-ahead — MAE 0.033 ft · NSE 0.98 · 98% CI coverage (80% nominal)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PROOF IT GENERALIZES: A SECOND RIVER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4846320" cy="420624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334256" cy="3694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against USGS 01553990 — Susquehanna River above the dam at Sunbury, PA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dam/impoundment gage: reports gage height, never discharge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auto_pipeline.py detected the missing discharge data and fell back to gage-height-only features automatically — no code change, no manual intervention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b="1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MAE 0.008 ft · NSE 0.99 · 100% CI coverage</a:t>
            </a:r>
            <a:endParaRPr lang="en-US" sz="1350" dirty="0"/>
          </a:p>
        </p:txBody>
      </p:sp>
      <p:pic>
        <p:nvPicPr>
          <p:cNvPr id="6" name="Image 0" descr="/sessions/clever-dazzling-gauss/deck_assets/forecast_h1_susquehan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600200"/>
            <a:ext cx="612648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840" y="47091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output: Susquehanna above Sunbury dam, 1h-ahead forecast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SCRIPT TO PRODUCT: A BROWSER CONSOLE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7607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(enter site code)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 rot="5400000">
            <a:off x="2205228" y="2116836"/>
            <a:ext cx="146304" cy="201168"/>
          </a:xfrm>
          <a:prstGeom prst="triangle">
            <a:avLst/>
          </a:prstGeom>
          <a:solidFill>
            <a:srgbClr val="1A1A1A"/>
          </a:solidFill>
          <a:ln/>
        </p:spPr>
      </p:sp>
      <p:sp>
        <p:nvSpPr>
          <p:cNvPr id="7" name="Shape 5"/>
          <p:cNvSpPr/>
          <p:nvPr/>
        </p:nvSpPr>
        <p:spPr>
          <a:xfrm>
            <a:off x="241554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8" name="Text 6"/>
          <p:cNvSpPr/>
          <p:nvPr/>
        </p:nvSpPr>
        <p:spPr>
          <a:xfrm>
            <a:off x="248869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web app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(net/http + SSE log)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 rot="5400000">
            <a:off x="4117848" y="2116836"/>
            <a:ext cx="146304" cy="201168"/>
          </a:xfrm>
          <a:prstGeom prst="triangle">
            <a:avLst/>
          </a:prstGeom>
          <a:solidFill>
            <a:srgbClr val="1A1A1A"/>
          </a:solidFill>
          <a:ln/>
        </p:spPr>
      </p:sp>
      <p:sp>
        <p:nvSpPr>
          <p:cNvPr id="10" name="Shape 8"/>
          <p:cNvSpPr/>
          <p:nvPr/>
        </p:nvSpPr>
        <p:spPr>
          <a:xfrm>
            <a:off x="432816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11" name="Text 9"/>
          <p:cNvSpPr/>
          <p:nvPr/>
        </p:nvSpPr>
        <p:spPr>
          <a:xfrm>
            <a:off x="440131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auto_pipeline.py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charts.py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6030468" y="2116836"/>
            <a:ext cx="146304" cy="201168"/>
          </a:xfrm>
          <a:prstGeom prst="triangle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624078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14" name="Text 12"/>
          <p:cNvSpPr/>
          <p:nvPr/>
        </p:nvSpPr>
        <p:spPr>
          <a:xfrm>
            <a:off x="631393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xgboost_model/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 rot="5400000">
            <a:off x="7943088" y="2116836"/>
            <a:ext cx="146304" cy="201168"/>
          </a:xfrm>
          <a:prstGeom prst="triangle">
            <a:avLst/>
          </a:prstGeom>
          <a:solidFill>
            <a:srgbClr val="1A1A1A"/>
          </a:solidFill>
          <a:ln/>
        </p:spPr>
      </p:sp>
      <p:sp>
        <p:nvSpPr>
          <p:cNvPr id="16" name="Shape 14"/>
          <p:cNvSpPr/>
          <p:nvPr/>
        </p:nvSpPr>
        <p:spPr>
          <a:xfrm>
            <a:off x="815340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A1A1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655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855708" y="2116836"/>
            <a:ext cx="146304" cy="201168"/>
          </a:xfrm>
          <a:prstGeom prst="triangle">
            <a:avLst/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66020" y="1691640"/>
            <a:ext cx="1638300" cy="1051560"/>
          </a:xfrm>
          <a:prstGeom prst="roundRect">
            <a:avLst>
              <a:gd name="adj" fmla="val 6957"/>
            </a:avLst>
          </a:prstGeom>
          <a:solidFill>
            <a:srgbClr val="1E8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0139172" y="1691640"/>
            <a:ext cx="14919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“Verify” = live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proof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11201400" cy="265176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3456432"/>
            <a:ext cx="10689336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USGS site code, watch auto_pipeline.py train and charts.py render live over Server-Sent Events — no more staring at a terminal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“Verify” to call the microservice’s own routes and prove the new model is really being served, not just that a file exists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dependencies: Go standard library only, vanilla JavaScript, no framework, no CDN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SHIPPING IT: ONE CONTAINER, FOUR CHECKS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92861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Docker image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build: Go binary + Python venv + FastAPI service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build -t usgs-flood-webapp 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8080:8080 -p 8000:8000 usgs-flood-webapp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services start together, stop together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44068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673352"/>
            <a:ext cx="492861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GitHub Actions workflows, every push/PR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microservice-tests.yml — pytest, fully mocked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webapp-tests.yml — gofmt / vet / build / test -race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docker-build.yml — builds the image, smoke-tests live predictions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auto-pipeline-tests.yml — trains a real site against live USGS/NLDI/OpenMeteo APIs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RESULTS: ACCURACY VS. RELIABILITY</a:t>
            </a:r>
            <a:endParaRPr lang="en-US" sz="2600" dirty="0"/>
          </a:p>
        </p:txBody>
      </p:sp>
      <p:pic>
        <p:nvPicPr>
          <p:cNvPr id="4" name="Image 0" descr="/sessions/clever-dazzling-gauss/deck_assets/error_by_horiz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417320"/>
            <a:ext cx="8686800" cy="4343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AutoGluon’s raw accuracy was never the issue. XGBoost + conformal trades a little point-forecast MAE for a model format that survives a Python upgrade and a confidence interval that actually holds its stated coverage.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0"/>
            <a:ext cx="111858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673352"/>
            <a:ext cx="492861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since the last version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Auto-training templates for any streamgage (auto_pipeline.py)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training + inference console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Docker deployment</a:t>
            </a:r>
            <a:endParaRPr lang="en-US" sz="1500" dirty="0"/>
          </a:p>
          <a:p>
            <a:pPr marL="342900" indent="-342900">
              <a:buSzPct val="100000"/>
              <a:buChar char="✓"/>
            </a:pPr>
            <a:r>
              <a:rPr lang="en-US" sz="1350" dirty="0">
                <a:solidFill>
                  <a:srgbClr val="1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on every push/PR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1417320"/>
            <a:ext cx="5440680" cy="4297680"/>
          </a:xfrm>
          <a:prstGeom prst="rect">
            <a:avLst/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19672" y="1673352"/>
            <a:ext cx="4928616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What’s next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memory/CPU footprint on Raspberry Pi / low-power edge hardware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auto-training across more USGS watersheds beyond NJ/PA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“Verify” results back into USGS researcher tooling for remote instrumentation control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longer horizons (12h+) only where NSE actually supports it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5855" y="6035040"/>
            <a:ext cx="3657600" cy="365760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11535" y="5760720"/>
            <a:ext cx="4206240" cy="420624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37215" y="5486400"/>
            <a:ext cx="4754880" cy="47548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62895" y="5212080"/>
            <a:ext cx="5303520" cy="530352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88575" y="4937760"/>
            <a:ext cx="5852160" cy="585216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14255" y="4663440"/>
            <a:ext cx="6400800" cy="640080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39935" y="4389120"/>
            <a:ext cx="6949440" cy="694944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65615" y="4114800"/>
            <a:ext cx="7498080" cy="7498080"/>
          </a:xfrm>
          <a:prstGeom prst="ellipse">
            <a:avLst/>
          </a:prstGeom>
          <a:ln w="9525">
            <a:solidFill>
              <a:srgbClr val="BFBF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8288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251460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Q&amp;A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70332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N. Ott, PE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phone: 973-750-8877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info@thomasott.io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2026-07-28T12:15:20Z</dcterms:created>
  <dcterms:modified xsi:type="dcterms:W3CDTF">2026-07-28T12:15:20Z</dcterms:modified>
</cp:coreProperties>
</file>